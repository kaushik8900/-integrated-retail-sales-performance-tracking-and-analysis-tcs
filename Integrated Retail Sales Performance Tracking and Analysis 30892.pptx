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6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9D91B9F-2206-4757-8CD3-9AD4874F3795}"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EF76E5-E0F0-4FF9-A7DA-C80A20F9E0B1}" type="slidenum">
              <a:rPr lang="en-IN" smtClean="0"/>
              <a:t>‹#›</a:t>
            </a:fld>
            <a:endParaRPr lang="en-IN"/>
          </a:p>
        </p:txBody>
      </p:sp>
    </p:spTree>
    <p:extLst>
      <p:ext uri="{BB962C8B-B14F-4D97-AF65-F5344CB8AC3E}">
        <p14:creationId xmlns:p14="http://schemas.microsoft.com/office/powerpoint/2010/main" val="1358047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9D91B9F-2206-4757-8CD3-9AD4874F3795}"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EF76E5-E0F0-4FF9-A7DA-C80A20F9E0B1}" type="slidenum">
              <a:rPr lang="en-IN" smtClean="0"/>
              <a:t>‹#›</a:t>
            </a:fld>
            <a:endParaRPr lang="en-IN"/>
          </a:p>
        </p:txBody>
      </p:sp>
    </p:spTree>
    <p:extLst>
      <p:ext uri="{BB962C8B-B14F-4D97-AF65-F5344CB8AC3E}">
        <p14:creationId xmlns:p14="http://schemas.microsoft.com/office/powerpoint/2010/main" val="1124661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9D91B9F-2206-4757-8CD3-9AD4874F3795}"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EF76E5-E0F0-4FF9-A7DA-C80A20F9E0B1}" type="slidenum">
              <a:rPr lang="en-IN" smtClean="0"/>
              <a:t>‹#›</a:t>
            </a:fld>
            <a:endParaRPr lang="en-IN"/>
          </a:p>
        </p:txBody>
      </p:sp>
    </p:spTree>
    <p:extLst>
      <p:ext uri="{BB962C8B-B14F-4D97-AF65-F5344CB8AC3E}">
        <p14:creationId xmlns:p14="http://schemas.microsoft.com/office/powerpoint/2010/main" val="3842302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9D91B9F-2206-4757-8CD3-9AD4874F3795}" type="datetimeFigureOut">
              <a:rPr lang="en-IN" smtClean="0"/>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EF76E5-E0F0-4FF9-A7DA-C80A20F9E0B1}" type="slidenum">
              <a:rPr lang="en-IN" smtClean="0"/>
              <a:t>‹#›</a:t>
            </a:fld>
            <a:endParaRPr lang="en-IN"/>
          </a:p>
        </p:txBody>
      </p:sp>
    </p:spTree>
    <p:extLst>
      <p:ext uri="{BB962C8B-B14F-4D97-AF65-F5344CB8AC3E}">
        <p14:creationId xmlns:p14="http://schemas.microsoft.com/office/powerpoint/2010/main" val="2870489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9D91B9F-2206-4757-8CD3-9AD4874F3795}" type="datetimeFigureOut">
              <a:rPr lang="en-IN" smtClean="0"/>
              <a:t>29-12-2025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AEF76E5-E0F0-4FF9-A7DA-C80A20F9E0B1}" type="slidenum">
              <a:rPr lang="en-IN" smtClean="0"/>
              <a:t>‹#›</a:t>
            </a:fld>
            <a:endParaRPr lang="en-IN"/>
          </a:p>
        </p:txBody>
      </p:sp>
    </p:spTree>
    <p:extLst>
      <p:ext uri="{BB962C8B-B14F-4D97-AF65-F5344CB8AC3E}">
        <p14:creationId xmlns:p14="http://schemas.microsoft.com/office/powerpoint/2010/main" val="293720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9D91B9F-2206-4757-8CD3-9AD4874F3795}" type="datetimeFigureOut">
              <a:rPr lang="en-IN" smtClean="0"/>
              <a:t>29-12-2025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AEF76E5-E0F0-4FF9-A7DA-C80A20F9E0B1}" type="slidenum">
              <a:rPr lang="en-IN" smtClean="0"/>
              <a:t>‹#›</a:t>
            </a:fld>
            <a:endParaRPr lang="en-IN"/>
          </a:p>
        </p:txBody>
      </p:sp>
    </p:spTree>
    <p:extLst>
      <p:ext uri="{BB962C8B-B14F-4D97-AF65-F5344CB8AC3E}">
        <p14:creationId xmlns:p14="http://schemas.microsoft.com/office/powerpoint/2010/main" val="2979721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D91B9F-2206-4757-8CD3-9AD4874F3795}" type="datetimeFigureOut">
              <a:rPr lang="en-IN" smtClean="0"/>
              <a:t>29-12-2025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AEF76E5-E0F0-4FF9-A7DA-C80A20F9E0B1}" type="slidenum">
              <a:rPr lang="en-IN" smtClean="0"/>
              <a:t>‹#›</a:t>
            </a:fld>
            <a:endParaRPr lang="en-IN"/>
          </a:p>
        </p:txBody>
      </p:sp>
    </p:spTree>
    <p:extLst>
      <p:ext uri="{BB962C8B-B14F-4D97-AF65-F5344CB8AC3E}">
        <p14:creationId xmlns:p14="http://schemas.microsoft.com/office/powerpoint/2010/main" val="2998446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D91B9F-2206-4757-8CD3-9AD4874F3795}" type="datetimeFigureOut">
              <a:rPr lang="en-IN" smtClean="0"/>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EF76E5-E0F0-4FF9-A7DA-C80A20F9E0B1}" type="slidenum">
              <a:rPr lang="en-IN" smtClean="0"/>
              <a:t>‹#›</a:t>
            </a:fld>
            <a:endParaRPr lang="en-IN"/>
          </a:p>
        </p:txBody>
      </p:sp>
    </p:spTree>
    <p:extLst>
      <p:ext uri="{BB962C8B-B14F-4D97-AF65-F5344CB8AC3E}">
        <p14:creationId xmlns:p14="http://schemas.microsoft.com/office/powerpoint/2010/main" val="3944827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D91B9F-2206-4757-8CD3-9AD4874F3795}" type="datetimeFigureOut">
              <a:rPr lang="en-IN" smtClean="0"/>
              <a:t>29-12-2025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EF76E5-E0F0-4FF9-A7DA-C80A20F9E0B1}" type="slidenum">
              <a:rPr lang="en-IN" smtClean="0"/>
              <a:t>‹#›</a:t>
            </a:fld>
            <a:endParaRPr lang="en-IN"/>
          </a:p>
        </p:txBody>
      </p:sp>
    </p:spTree>
    <p:extLst>
      <p:ext uri="{BB962C8B-B14F-4D97-AF65-F5344CB8AC3E}">
        <p14:creationId xmlns:p14="http://schemas.microsoft.com/office/powerpoint/2010/main" val="3584981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9D91B9F-2206-4757-8CD3-9AD4874F3795}"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EF76E5-E0F0-4FF9-A7DA-C80A20F9E0B1}" type="slidenum">
              <a:rPr lang="en-IN" smtClean="0"/>
              <a:t>‹#›</a:t>
            </a:fld>
            <a:endParaRPr lang="en-IN"/>
          </a:p>
        </p:txBody>
      </p:sp>
    </p:spTree>
    <p:extLst>
      <p:ext uri="{BB962C8B-B14F-4D97-AF65-F5344CB8AC3E}">
        <p14:creationId xmlns:p14="http://schemas.microsoft.com/office/powerpoint/2010/main" val="401850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9D91B9F-2206-4757-8CD3-9AD4874F3795}" type="datetimeFigureOut">
              <a:rPr lang="en-IN" smtClean="0"/>
              <a:t>29-12-2025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EF76E5-E0F0-4FF9-A7DA-C80A20F9E0B1}" type="slidenum">
              <a:rPr lang="en-IN" smtClean="0"/>
              <a:t>‹#›</a:t>
            </a:fld>
            <a:endParaRPr lang="en-IN"/>
          </a:p>
        </p:txBody>
      </p:sp>
    </p:spTree>
    <p:extLst>
      <p:ext uri="{BB962C8B-B14F-4D97-AF65-F5344CB8AC3E}">
        <p14:creationId xmlns:p14="http://schemas.microsoft.com/office/powerpoint/2010/main" val="2496284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D91B9F-2206-4757-8CD3-9AD4874F3795}" type="datetimeFigureOut">
              <a:rPr lang="en-IN" smtClean="0"/>
              <a:t>29-12-2025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EF76E5-E0F0-4FF9-A7DA-C80A20F9E0B1}" type="slidenum">
              <a:rPr lang="en-IN" smtClean="0"/>
              <a:t>‹#›</a:t>
            </a:fld>
            <a:endParaRPr lang="en-IN"/>
          </a:p>
        </p:txBody>
      </p:sp>
    </p:spTree>
    <p:extLst>
      <p:ext uri="{BB962C8B-B14F-4D97-AF65-F5344CB8AC3E}">
        <p14:creationId xmlns:p14="http://schemas.microsoft.com/office/powerpoint/2010/main" val="2513618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0" y="1"/>
            <a:ext cx="12191999" cy="6899604"/>
          </a:xfrm>
          <a:prstGeom prst="rect">
            <a:avLst/>
          </a:prstGeom>
        </p:spPr>
      </p:pic>
      <p:sp>
        <p:nvSpPr>
          <p:cNvPr id="2" name="Title 1"/>
          <p:cNvSpPr>
            <a:spLocks noGrp="1"/>
          </p:cNvSpPr>
          <p:nvPr>
            <p:ph type="ctrTitle"/>
          </p:nvPr>
        </p:nvSpPr>
        <p:spPr>
          <a:xfrm>
            <a:off x="1094117" y="345057"/>
            <a:ext cx="10003766" cy="3164906"/>
          </a:xfrm>
        </p:spPr>
        <p:txBody>
          <a:bodyPr>
            <a:normAutofit fontScale="90000"/>
          </a:bodyPr>
          <a:lstStyle/>
          <a:p>
            <a:r>
              <a:rPr lang="en-US" dirty="0">
                <a:latin typeface="Times New Roman" panose="02020603050405020304" pitchFamily="18" charset="0"/>
                <a:cs typeface="Times New Roman" panose="02020603050405020304" pitchFamily="18" charset="0"/>
              </a:rPr>
              <a:t>Integrated Retail Sales Performance Tracking and </a:t>
            </a:r>
            <a:r>
              <a:rPr lang="en-US" dirty="0" smtClean="0">
                <a:latin typeface="Times New Roman" panose="02020603050405020304" pitchFamily="18" charset="0"/>
                <a:cs typeface="Times New Roman" panose="02020603050405020304" pitchFamily="18" charset="0"/>
              </a:rPr>
              <a:t>Analysis</a:t>
            </a:r>
            <a:br>
              <a:rPr lang="en-US" dirty="0" smtClean="0">
                <a:latin typeface="Times New Roman" panose="02020603050405020304" pitchFamily="18" charset="0"/>
                <a:cs typeface="Times New Roman" panose="02020603050405020304" pitchFamily="18" charset="0"/>
              </a:rPr>
            </a:br>
            <a:r>
              <a:rPr lang="en-US" dirty="0"/>
              <a:t/>
            </a:r>
            <a:br>
              <a:rPr lang="en-US" dirty="0"/>
            </a:br>
            <a:r>
              <a:rPr lang="en-IN" sz="3600" dirty="0" smtClean="0">
                <a:latin typeface="Times New Roman" panose="02020603050405020304" pitchFamily="18" charset="0"/>
                <a:cs typeface="Times New Roman" panose="02020603050405020304" pitchFamily="18" charset="0"/>
              </a:rPr>
              <a:t>TCS RIO – Industry Project</a:t>
            </a:r>
            <a:endParaRPr lang="en-IN" sz="36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094117" y="4346486"/>
            <a:ext cx="9144000" cy="1655762"/>
          </a:xfrm>
        </p:spPr>
        <p:txBody>
          <a:bodyPr>
            <a:normAutofit/>
          </a:bodyPr>
          <a:lstStyle/>
          <a:p>
            <a:pPr algn="l"/>
            <a:r>
              <a:rPr lang="en-US" dirty="0" smtClean="0">
                <a:latin typeface="Times New Roman" panose="02020603050405020304" pitchFamily="18" charset="0"/>
                <a:cs typeface="Times New Roman" panose="02020603050405020304" pitchFamily="18" charset="0"/>
              </a:rPr>
              <a:t>Kaushik Upadhyay</a:t>
            </a:r>
          </a:p>
          <a:p>
            <a:pPr algn="l"/>
            <a:r>
              <a:rPr lang="en-US" dirty="0" smtClean="0">
                <a:latin typeface="Times New Roman" panose="02020603050405020304" pitchFamily="18" charset="0"/>
                <a:cs typeface="Times New Roman" panose="02020603050405020304" pitchFamily="18" charset="0"/>
              </a:rPr>
              <a:t>30892</a:t>
            </a:r>
          </a:p>
          <a:p>
            <a:pPr algn="l"/>
            <a:r>
              <a:rPr lang="en-US" dirty="0" smtClean="0">
                <a:latin typeface="Times New Roman" panose="02020603050405020304" pitchFamily="18" charset="0"/>
                <a:cs typeface="Times New Roman" panose="02020603050405020304" pitchFamily="18" charset="0"/>
              </a:rPr>
              <a:t>Yenepoya (Deemed to be University)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54517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8002588"/>
          </a:xfrm>
          <a:prstGeom prst="rect">
            <a:avLst/>
          </a:prstGeom>
        </p:spPr>
      </p:pic>
      <p:sp>
        <p:nvSpPr>
          <p:cNvPr id="2" name="Title 1"/>
          <p:cNvSpPr>
            <a:spLocks noGrp="1"/>
          </p:cNvSpPr>
          <p:nvPr>
            <p:ph type="title"/>
          </p:nvPr>
        </p:nvSpPr>
        <p:spPr>
          <a:xfrm>
            <a:off x="838200" y="287487"/>
            <a:ext cx="10515600" cy="1331104"/>
          </a:xfrm>
        </p:spPr>
        <p:txBody>
          <a:bodyPr>
            <a:normAutofit/>
          </a:bodyPr>
          <a:lstStyle/>
          <a:p>
            <a:r>
              <a:rPr lang="en-US" sz="4000" dirty="0" smtClean="0">
                <a:latin typeface="Times New Roman" panose="02020603050405020304" pitchFamily="18" charset="0"/>
                <a:cs typeface="Times New Roman" panose="02020603050405020304" pitchFamily="18" charset="0"/>
              </a:rPr>
              <a:t>Project Objective</a:t>
            </a:r>
            <a:endParaRPr lang="en-IN" sz="40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618591"/>
            <a:ext cx="10515600" cy="4351338"/>
          </a:xfrm>
        </p:spPr>
        <p:txBody>
          <a:bodyPr>
            <a:normAutofit/>
          </a:bodyPr>
          <a:lstStyle/>
          <a:p>
            <a:pPr marL="0" indent="0" algn="just">
              <a:buNone/>
            </a:pPr>
            <a:r>
              <a:rPr lang="en-US" sz="2400" dirty="0" smtClean="0">
                <a:latin typeface="Times New Roman" panose="02020603050405020304" pitchFamily="18" charset="0"/>
                <a:cs typeface="Times New Roman" panose="02020603050405020304" pitchFamily="18" charset="0"/>
              </a:rPr>
              <a:t>To design an integrated retail sales performance analysis system that tracks key business KPIs, identifies sales trends over time, evaluates product category performance, and analyzes customer demographics using interactive data visualizations to support data-driven decision-making.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00282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8200" y="270234"/>
            <a:ext cx="10515600" cy="1040981"/>
          </a:xfrm>
        </p:spPr>
        <p:txBody>
          <a:bodyPr>
            <a:normAutofit/>
          </a:bodyPr>
          <a:lstStyle/>
          <a:p>
            <a:r>
              <a:rPr lang="en-US" sz="4000" dirty="0" smtClean="0">
                <a:latin typeface="Times New Roman" panose="02020603050405020304" pitchFamily="18" charset="0"/>
                <a:cs typeface="Times New Roman" panose="02020603050405020304" pitchFamily="18" charset="0"/>
              </a:rPr>
              <a:t>Dataset Overview</a:t>
            </a:r>
            <a:endParaRPr lang="en-IN" sz="40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423269"/>
            <a:ext cx="10515600" cy="4486275"/>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The dataset consists of </a:t>
            </a:r>
            <a:r>
              <a:rPr lang="en-US" sz="2400" b="1" dirty="0" smtClean="0">
                <a:latin typeface="Times New Roman" panose="02020603050405020304" pitchFamily="18" charset="0"/>
                <a:cs typeface="Times New Roman" panose="02020603050405020304" pitchFamily="18" charset="0"/>
              </a:rPr>
              <a:t>1,000 retail transaction records</a:t>
            </a:r>
            <a:r>
              <a:rPr lang="en-US" sz="2400" dirty="0" smtClean="0">
                <a:latin typeface="Times New Roman" panose="02020603050405020304" pitchFamily="18" charset="0"/>
                <a:cs typeface="Times New Roman" panose="02020603050405020304" pitchFamily="18" charset="0"/>
              </a:rPr>
              <a:t> capturing customer purchases across multiple product categories over a defined time period. The data has been cleaned and enriched to support effective analysis of sales performance, customer behavior, and temporal trends.</a:t>
            </a:r>
            <a:endParaRPr lang="en-IN" sz="2400" dirty="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The dataset was </a:t>
            </a:r>
            <a:r>
              <a:rPr lang="en-US" sz="2400" b="1" dirty="0" smtClean="0">
                <a:latin typeface="Times New Roman" panose="02020603050405020304" pitchFamily="18" charset="0"/>
                <a:cs typeface="Times New Roman" panose="02020603050405020304" pitchFamily="18" charset="0"/>
              </a:rPr>
              <a:t>cleaned</a:t>
            </a:r>
            <a:r>
              <a:rPr lang="en-US" sz="2400" dirty="0" smtClean="0">
                <a:latin typeface="Times New Roman" panose="02020603050405020304" pitchFamily="18" charset="0"/>
                <a:cs typeface="Times New Roman" panose="02020603050405020304" pitchFamily="18" charset="0"/>
              </a:rPr>
              <a:t> to remove inconsistencies and ensure accurate analysis.</a:t>
            </a:r>
          </a:p>
          <a:p>
            <a:r>
              <a:rPr lang="en-US" sz="2400" b="1" dirty="0" smtClean="0">
                <a:latin typeface="Times New Roman" panose="02020603050405020304" pitchFamily="18" charset="0"/>
                <a:cs typeface="Times New Roman" panose="02020603050405020304" pitchFamily="18" charset="0"/>
              </a:rPr>
              <a:t>Derived columns</a:t>
            </a:r>
            <a:r>
              <a:rPr lang="en-US" sz="2400" dirty="0" smtClean="0">
                <a:latin typeface="Times New Roman" panose="02020603050405020304" pitchFamily="18" charset="0"/>
                <a:cs typeface="Times New Roman" panose="02020603050405020304" pitchFamily="18" charset="0"/>
              </a:rPr>
              <a:t> such as </a:t>
            </a:r>
            <a:r>
              <a:rPr lang="en-US" sz="2400" i="1" dirty="0" smtClean="0">
                <a:latin typeface="Times New Roman" panose="02020603050405020304" pitchFamily="18" charset="0"/>
                <a:cs typeface="Times New Roman" panose="02020603050405020304" pitchFamily="18" charset="0"/>
              </a:rPr>
              <a:t>Age Group</a:t>
            </a:r>
            <a:r>
              <a:rPr lang="en-US" sz="2400" dirty="0" smtClean="0">
                <a:latin typeface="Times New Roman" panose="02020603050405020304" pitchFamily="18" charset="0"/>
                <a:cs typeface="Times New Roman" panose="02020603050405020304" pitchFamily="18" charset="0"/>
              </a:rPr>
              <a:t>, </a:t>
            </a:r>
            <a:r>
              <a:rPr lang="en-US" sz="2400" i="1" dirty="0" smtClean="0">
                <a:latin typeface="Times New Roman" panose="02020603050405020304" pitchFamily="18" charset="0"/>
                <a:cs typeface="Times New Roman" panose="02020603050405020304" pitchFamily="18" charset="0"/>
              </a:rPr>
              <a:t>Month</a:t>
            </a:r>
            <a:r>
              <a:rPr lang="en-US" sz="2400" dirty="0" smtClean="0">
                <a:latin typeface="Times New Roman" panose="02020603050405020304" pitchFamily="18" charset="0"/>
                <a:cs typeface="Times New Roman" panose="02020603050405020304" pitchFamily="18" charset="0"/>
              </a:rPr>
              <a:t>, </a:t>
            </a:r>
            <a:r>
              <a:rPr lang="en-US" sz="2400" i="1" dirty="0" smtClean="0">
                <a:latin typeface="Times New Roman" panose="02020603050405020304" pitchFamily="18" charset="0"/>
                <a:cs typeface="Times New Roman" panose="02020603050405020304" pitchFamily="18" charset="0"/>
              </a:rPr>
              <a:t>Day of Week</a:t>
            </a:r>
            <a:r>
              <a:rPr lang="en-US" sz="2400" dirty="0" smtClean="0">
                <a:latin typeface="Times New Roman" panose="02020603050405020304" pitchFamily="18" charset="0"/>
                <a:cs typeface="Times New Roman" panose="02020603050405020304" pitchFamily="18" charset="0"/>
              </a:rPr>
              <a:t>, and </a:t>
            </a:r>
            <a:r>
              <a:rPr lang="en-US" sz="2400" i="1" dirty="0" smtClean="0">
                <a:latin typeface="Times New Roman" panose="02020603050405020304" pitchFamily="18" charset="0"/>
                <a:cs typeface="Times New Roman" panose="02020603050405020304" pitchFamily="18" charset="0"/>
              </a:rPr>
              <a:t>Quarter</a:t>
            </a:r>
            <a:r>
              <a:rPr lang="en-US" sz="2400" dirty="0" smtClean="0">
                <a:latin typeface="Times New Roman" panose="02020603050405020304" pitchFamily="18" charset="0"/>
                <a:cs typeface="Times New Roman" panose="02020603050405020304" pitchFamily="18" charset="0"/>
              </a:rPr>
              <a:t> were created to enable time-based and demographic analysis.</a:t>
            </a:r>
          </a:p>
          <a:p>
            <a:r>
              <a:rPr lang="en-US" sz="2400" dirty="0" smtClean="0">
                <a:latin typeface="Times New Roman" panose="02020603050405020304" pitchFamily="18" charset="0"/>
                <a:cs typeface="Times New Roman" panose="02020603050405020304" pitchFamily="18" charset="0"/>
              </a:rPr>
              <a:t>All numerical fields were validated for correctness and consistency.</a:t>
            </a:r>
          </a:p>
          <a:p>
            <a:pPr algn="just"/>
            <a:r>
              <a:rPr lang="en-IN" sz="2400" dirty="0" smtClean="0">
                <a:latin typeface="Times New Roman" panose="02020603050405020304" pitchFamily="18" charset="0"/>
                <a:cs typeface="Times New Roman" panose="02020603050405020304" pitchFamily="18" charset="0"/>
              </a:rPr>
              <a:t>This dataset enables us in </a:t>
            </a:r>
            <a:r>
              <a:rPr lang="en-IN" sz="2400" dirty="0">
                <a:latin typeface="Times New Roman" panose="02020603050405020304" pitchFamily="18" charset="0"/>
                <a:cs typeface="Times New Roman" panose="02020603050405020304" pitchFamily="18" charset="0"/>
              </a:rPr>
              <a:t>m</a:t>
            </a:r>
            <a:r>
              <a:rPr lang="en-IN" sz="2400" dirty="0" smtClean="0">
                <a:latin typeface="Times New Roman" panose="02020603050405020304" pitchFamily="18" charset="0"/>
                <a:cs typeface="Times New Roman" panose="02020603050405020304" pitchFamily="18" charset="0"/>
              </a:rPr>
              <a:t>onitoring </a:t>
            </a:r>
            <a:r>
              <a:rPr lang="en-IN" sz="2400" b="1" dirty="0" smtClean="0">
                <a:latin typeface="Times New Roman" panose="02020603050405020304" pitchFamily="18" charset="0"/>
                <a:cs typeface="Times New Roman" panose="02020603050405020304" pitchFamily="18" charset="0"/>
              </a:rPr>
              <a:t>overall sales performance, </a:t>
            </a:r>
            <a:r>
              <a:rPr lang="en-US" sz="2400" dirty="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dentifying </a:t>
            </a:r>
            <a:r>
              <a:rPr lang="en-US" sz="2400" b="1" dirty="0" smtClean="0">
                <a:latin typeface="Times New Roman" panose="02020603050405020304" pitchFamily="18" charset="0"/>
                <a:cs typeface="Times New Roman" panose="02020603050405020304" pitchFamily="18" charset="0"/>
              </a:rPr>
              <a:t>sales trends over time, </a:t>
            </a:r>
            <a:r>
              <a:rPr lang="en-IN" sz="2400" dirty="0">
                <a:latin typeface="Times New Roman" panose="02020603050405020304" pitchFamily="18" charset="0"/>
                <a:cs typeface="Times New Roman" panose="02020603050405020304" pitchFamily="18" charset="0"/>
              </a:rPr>
              <a:t>a</a:t>
            </a:r>
            <a:r>
              <a:rPr lang="en-IN" sz="2400" dirty="0" smtClean="0">
                <a:latin typeface="Times New Roman" panose="02020603050405020304" pitchFamily="18" charset="0"/>
                <a:cs typeface="Times New Roman" panose="02020603050405020304" pitchFamily="18" charset="0"/>
              </a:rPr>
              <a:t>nalysing </a:t>
            </a:r>
            <a:r>
              <a:rPr lang="en-IN" sz="2400" b="1" dirty="0" smtClean="0">
                <a:latin typeface="Times New Roman" panose="02020603050405020304" pitchFamily="18" charset="0"/>
                <a:cs typeface="Times New Roman" panose="02020603050405020304" pitchFamily="18" charset="0"/>
              </a:rPr>
              <a:t>product category contributions, and </a:t>
            </a:r>
            <a:r>
              <a:rPr lang="en-US" sz="2400" dirty="0">
                <a:latin typeface="Times New Roman" panose="02020603050405020304" pitchFamily="18" charset="0"/>
                <a:cs typeface="Times New Roman" panose="02020603050405020304" pitchFamily="18" charset="0"/>
              </a:rPr>
              <a:t>u</a:t>
            </a:r>
            <a:r>
              <a:rPr lang="en-US" sz="2400" dirty="0" smtClean="0">
                <a:latin typeface="Times New Roman" panose="02020603050405020304" pitchFamily="18" charset="0"/>
                <a:cs typeface="Times New Roman" panose="02020603050405020304" pitchFamily="18" charset="0"/>
              </a:rPr>
              <a:t>nderstanding </a:t>
            </a:r>
            <a:r>
              <a:rPr lang="en-US" sz="2400" b="1" dirty="0" smtClean="0">
                <a:latin typeface="Times New Roman" panose="02020603050405020304" pitchFamily="18" charset="0"/>
                <a:cs typeface="Times New Roman" panose="02020603050405020304" pitchFamily="18" charset="0"/>
              </a:rPr>
              <a:t>customer demographics and purchasing behavior.</a:t>
            </a:r>
            <a:endParaRPr lang="en-US" sz="2400" dirty="0" smtClean="0">
              <a:latin typeface="Times New Roman" panose="02020603050405020304" pitchFamily="18" charset="0"/>
              <a:cs typeface="Times New Roman" panose="02020603050405020304" pitchFamily="18" charset="0"/>
            </a:endParaRPr>
          </a:p>
          <a:p>
            <a:pPr algn="just"/>
            <a:endParaRPr lang="en-IN" sz="2400" dirty="0"/>
          </a:p>
        </p:txBody>
      </p:sp>
    </p:spTree>
    <p:extLst>
      <p:ext uri="{BB962C8B-B14F-4D97-AF65-F5344CB8AC3E}">
        <p14:creationId xmlns:p14="http://schemas.microsoft.com/office/powerpoint/2010/main" val="28239556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8200" y="365126"/>
            <a:ext cx="10515600" cy="859826"/>
          </a:xfrm>
        </p:spPr>
        <p:txBody>
          <a:bodyPr>
            <a:normAutofit/>
          </a:bodyPr>
          <a:lstStyle/>
          <a:p>
            <a:r>
              <a:rPr lang="en-US" sz="4000" dirty="0" smtClean="0">
                <a:latin typeface="Times New Roman" panose="02020603050405020304" pitchFamily="18" charset="0"/>
                <a:cs typeface="Times New Roman" panose="02020603050405020304" pitchFamily="18" charset="0"/>
              </a:rPr>
              <a:t>KPI Summary</a:t>
            </a:r>
            <a:endParaRPr lang="en-IN" sz="40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5342103"/>
            <a:ext cx="2572109" cy="1515897"/>
          </a:xfr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04869" y="5390380"/>
            <a:ext cx="3419952" cy="141934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19381" y="5390380"/>
            <a:ext cx="2305372" cy="1468264"/>
          </a:xfrm>
          <a:prstGeom prst="rect">
            <a:avLst/>
          </a:prstGeom>
        </p:spPr>
      </p:pic>
      <p:sp>
        <p:nvSpPr>
          <p:cNvPr id="7" name="Rectangle 6"/>
          <p:cNvSpPr/>
          <p:nvPr/>
        </p:nvSpPr>
        <p:spPr>
          <a:xfrm>
            <a:off x="838200" y="1508173"/>
            <a:ext cx="10515599" cy="3785652"/>
          </a:xfrm>
          <a:prstGeom prst="rect">
            <a:avLst/>
          </a:prstGeom>
        </p:spPr>
        <p:txBody>
          <a:bodyPr wrap="square">
            <a:spAutoFit/>
          </a:bodyPr>
          <a:lstStyle/>
          <a:p>
            <a:r>
              <a:rPr lang="en-US" sz="2000" dirty="0" smtClean="0">
                <a:latin typeface="Times New Roman" panose="02020603050405020304" pitchFamily="18" charset="0"/>
                <a:cs typeface="Times New Roman" panose="02020603050405020304" pitchFamily="18" charset="0"/>
              </a:rPr>
              <a:t>The KPI summary provides a high-level overview of the overall retail sales performance. These metrics help stakeholders quickly assess business health and identify trends without analyzing detailed transaction-level data.</a:t>
            </a: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Total Sales (₹4,56,000):</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Represents the cumulative revenue generated from all retail transactions during the analysis period. This KPI indicates the overall financial performance of the business.</a:t>
            </a: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Average Transaction Value (₹456):</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Measures the average revenue generated per transaction. This helps evaluate customer spending behavior and indicates the effectiveness of pricing and upselling strategies.</a:t>
            </a: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Total Quantity Sold (2,514 units):</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Reflects the total number of products sold across all categories. This metric provides insight into sales volume and product demand.</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97782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8200" y="192597"/>
            <a:ext cx="10515600" cy="1239388"/>
          </a:xfrm>
        </p:spPr>
        <p:txBody>
          <a:bodyPr>
            <a:normAutofit/>
          </a:bodyPr>
          <a:lstStyle/>
          <a:p>
            <a:r>
              <a:rPr lang="en-US" sz="4000" dirty="0" smtClean="0">
                <a:latin typeface="Times New Roman" panose="02020603050405020304" pitchFamily="18" charset="0"/>
                <a:cs typeface="Times New Roman" panose="02020603050405020304" pitchFamily="18" charset="0"/>
              </a:rPr>
              <a:t>Sales Trend Analysis</a:t>
            </a:r>
            <a:endParaRPr lang="en-IN" sz="40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80221" y="2027118"/>
            <a:ext cx="8831558" cy="4351338"/>
          </a:xfrm>
        </p:spPr>
      </p:pic>
      <p:sp>
        <p:nvSpPr>
          <p:cNvPr id="5" name="Rectangle 4"/>
          <p:cNvSpPr/>
          <p:nvPr/>
        </p:nvSpPr>
        <p:spPr>
          <a:xfrm>
            <a:off x="5257800" y="1371600"/>
            <a:ext cx="6096000" cy="646331"/>
          </a:xfrm>
          <a:prstGeom prst="rect">
            <a:avLst/>
          </a:prstGeom>
        </p:spPr>
        <p:txBody>
          <a:bodyPr>
            <a:spAutoFit/>
          </a:bodyPr>
          <a:lstStyle/>
          <a:p>
            <a:r>
              <a:rPr lang="en-US" dirty="0" smtClean="0">
                <a:latin typeface="Times New Roman" panose="02020603050405020304" pitchFamily="18" charset="0"/>
                <a:cs typeface="Times New Roman" panose="02020603050405020304" pitchFamily="18" charset="0"/>
              </a:rPr>
              <a:t>Sales show fluctuations with a peak in mid-2023 and a decline in early 2024</a:t>
            </a:r>
            <a:r>
              <a:rPr lang="en-US" dirty="0" smtClean="0"/>
              <a:t>.</a:t>
            </a:r>
            <a:endParaRPr lang="en-IN" dirty="0"/>
          </a:p>
        </p:txBody>
      </p:sp>
    </p:spTree>
    <p:extLst>
      <p:ext uri="{BB962C8B-B14F-4D97-AF65-F5344CB8AC3E}">
        <p14:creationId xmlns:p14="http://schemas.microsoft.com/office/powerpoint/2010/main" val="28826633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760562" y="201223"/>
            <a:ext cx="10515600" cy="1187630"/>
          </a:xfrm>
        </p:spPr>
        <p:txBody>
          <a:bodyPr>
            <a:normAutofit/>
          </a:bodyPr>
          <a:lstStyle/>
          <a:p>
            <a:r>
              <a:rPr lang="en-US" sz="4000" dirty="0" smtClean="0">
                <a:latin typeface="Times New Roman" panose="02020603050405020304" pitchFamily="18" charset="0"/>
                <a:cs typeface="Times New Roman" panose="02020603050405020304" pitchFamily="18" charset="0"/>
              </a:rPr>
              <a:t>Product Category Analysis</a:t>
            </a:r>
            <a:endParaRPr lang="en-IN" sz="40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60562" y="1242204"/>
            <a:ext cx="10515600" cy="1862214"/>
          </a:xfr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4839225"/>
            <a:ext cx="10515600" cy="1889378"/>
          </a:xfrm>
          <a:prstGeom prst="rect">
            <a:avLst/>
          </a:prstGeom>
        </p:spPr>
      </p:pic>
      <p:sp>
        <p:nvSpPr>
          <p:cNvPr id="6" name="Rectangle 5"/>
          <p:cNvSpPr/>
          <p:nvPr/>
        </p:nvSpPr>
        <p:spPr>
          <a:xfrm>
            <a:off x="760562" y="3190682"/>
            <a:ext cx="10515600" cy="923330"/>
          </a:xfrm>
          <a:prstGeom prst="rect">
            <a:avLst/>
          </a:prstGeom>
        </p:spPr>
        <p:txBody>
          <a:bodyPr wrap="square">
            <a:spAutoFit/>
          </a:bodyPr>
          <a:lstStyle/>
          <a:p>
            <a:pPr algn="just"/>
            <a:r>
              <a:rPr lang="en-US" dirty="0" smtClean="0">
                <a:latin typeface="Times New Roman" panose="02020603050405020304" pitchFamily="18" charset="0"/>
                <a:cs typeface="Times New Roman" panose="02020603050405020304" pitchFamily="18" charset="0"/>
              </a:rPr>
              <a:t>Electronics contributes the highest revenue, driven by higher-priced items, while Clothing leads in sales volume due to frequent purchases. Beauty products show lower performance, indicating potential scope for targeted promotions.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2191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8200" y="252983"/>
            <a:ext cx="10515600" cy="1092738"/>
          </a:xfrm>
        </p:spPr>
        <p:txBody>
          <a:bodyPr/>
          <a:lstStyle/>
          <a:p>
            <a:r>
              <a:rPr lang="en-IN" dirty="0" smtClean="0"/>
              <a:t>Customer </a:t>
            </a:r>
            <a:r>
              <a:rPr lang="en-IN" dirty="0"/>
              <a:t>D</a:t>
            </a:r>
            <a:r>
              <a:rPr lang="en-IN" dirty="0" smtClean="0"/>
              <a:t>emographics Analysis</a:t>
            </a:r>
            <a:endParaRPr lang="en-IN"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487729" y="1592232"/>
            <a:ext cx="4488611" cy="4351338"/>
          </a:xfr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193" y="1592232"/>
            <a:ext cx="2963264" cy="4351338"/>
          </a:xfrm>
          <a:prstGeom prst="rect">
            <a:avLst/>
          </a:prstGeom>
        </p:spPr>
      </p:pic>
      <p:sp>
        <p:nvSpPr>
          <p:cNvPr id="6" name="Rectangle 5"/>
          <p:cNvSpPr/>
          <p:nvPr/>
        </p:nvSpPr>
        <p:spPr>
          <a:xfrm>
            <a:off x="2432650" y="3029237"/>
            <a:ext cx="4839419" cy="1477328"/>
          </a:xfrm>
          <a:prstGeom prst="rect">
            <a:avLst/>
          </a:prstGeom>
        </p:spPr>
        <p:txBody>
          <a:bodyPr wrap="square">
            <a:spAutoFit/>
          </a:bodyPr>
          <a:lstStyle/>
          <a:p>
            <a:pPr algn="just"/>
            <a:r>
              <a:rPr lang="en-US" dirty="0" smtClean="0">
                <a:latin typeface="Times New Roman" panose="02020603050405020304" pitchFamily="18" charset="0"/>
                <a:cs typeface="Times New Roman" panose="02020603050405020304" pitchFamily="18" charset="0"/>
              </a:rPr>
              <a:t>Female customers contribute slightly higher sales, while the 26–45 age group represents the most significant revenue segment. These insights support targeted marketing and customer segmentation strategies.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08765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8200" y="209849"/>
            <a:ext cx="10515600" cy="1179004"/>
          </a:xfrm>
        </p:spPr>
        <p:txBody>
          <a:bodyPr>
            <a:normAutofit/>
          </a:bodyPr>
          <a:lstStyle/>
          <a:p>
            <a:r>
              <a:rPr lang="en-IN" sz="4000" dirty="0" smtClean="0">
                <a:latin typeface="Times New Roman" panose="02020603050405020304" pitchFamily="18" charset="0"/>
                <a:cs typeface="Times New Roman" panose="02020603050405020304" pitchFamily="18" charset="0"/>
              </a:rPr>
              <a:t>Key insights &amp; inference</a:t>
            </a:r>
            <a:endParaRPr lang="en-IN"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66491"/>
            <a:ext cx="10515600" cy="5124090"/>
          </a:xfrm>
        </p:spPr>
        <p:txBody>
          <a:bodyPr/>
          <a:lstStyle/>
          <a:p>
            <a:pPr marL="0" indent="0" algn="just">
              <a:buNone/>
            </a:pPr>
            <a:r>
              <a:rPr lang="en-US" b="1" dirty="0" smtClean="0">
                <a:latin typeface="Times New Roman" panose="02020603050405020304" pitchFamily="18" charset="0"/>
                <a:cs typeface="Times New Roman" panose="02020603050405020304" pitchFamily="18" charset="0"/>
              </a:rPr>
              <a:t>Key Insights</a:t>
            </a:r>
          </a:p>
          <a:p>
            <a:pPr algn="just"/>
            <a:r>
              <a:rPr lang="en-US" sz="2000" dirty="0" smtClean="0">
                <a:latin typeface="Times New Roman" panose="02020603050405020304" pitchFamily="18" charset="0"/>
                <a:cs typeface="Times New Roman" panose="02020603050405020304" pitchFamily="18" charset="0"/>
              </a:rPr>
              <a:t>Overall sales performance shows </a:t>
            </a:r>
            <a:r>
              <a:rPr lang="en-US" sz="2000" b="1" dirty="0" smtClean="0">
                <a:latin typeface="Times New Roman" panose="02020603050405020304" pitchFamily="18" charset="0"/>
                <a:cs typeface="Times New Roman" panose="02020603050405020304" pitchFamily="18" charset="0"/>
              </a:rPr>
              <a:t>consistent revenue generation</a:t>
            </a:r>
            <a:r>
              <a:rPr lang="en-US" sz="2000" dirty="0" smtClean="0">
                <a:latin typeface="Times New Roman" panose="02020603050405020304" pitchFamily="18" charset="0"/>
                <a:cs typeface="Times New Roman" panose="02020603050405020304" pitchFamily="18" charset="0"/>
              </a:rPr>
              <a:t>, supported by balanced contributions from multiple product categories and customer segments.</a:t>
            </a:r>
          </a:p>
          <a:p>
            <a:pPr algn="just"/>
            <a:r>
              <a:rPr lang="en-US" sz="2000" b="1" dirty="0" smtClean="0">
                <a:latin typeface="Times New Roman" panose="02020603050405020304" pitchFamily="18" charset="0"/>
                <a:cs typeface="Times New Roman" panose="02020603050405020304" pitchFamily="18" charset="0"/>
              </a:rPr>
              <a:t>Electronics</a:t>
            </a:r>
            <a:r>
              <a:rPr lang="en-US" sz="2000" dirty="0" smtClean="0">
                <a:latin typeface="Times New Roman" panose="02020603050405020304" pitchFamily="18" charset="0"/>
                <a:cs typeface="Times New Roman" panose="02020603050405020304" pitchFamily="18" charset="0"/>
              </a:rPr>
              <a:t> drives the highest revenue due to higher unit prices, while </a:t>
            </a:r>
            <a:r>
              <a:rPr lang="en-US" sz="2000" b="1" dirty="0" smtClean="0">
                <a:latin typeface="Times New Roman" panose="02020603050405020304" pitchFamily="18" charset="0"/>
                <a:cs typeface="Times New Roman" panose="02020603050405020304" pitchFamily="18" charset="0"/>
              </a:rPr>
              <a:t>Clothing</a:t>
            </a:r>
            <a:r>
              <a:rPr lang="en-US" sz="2000" dirty="0" smtClean="0">
                <a:latin typeface="Times New Roman" panose="02020603050405020304" pitchFamily="18" charset="0"/>
                <a:cs typeface="Times New Roman" panose="02020603050405020304" pitchFamily="18" charset="0"/>
              </a:rPr>
              <a:t> contributes significantly through higher sales volume, indicating two distinct revenue drivers.</a:t>
            </a:r>
          </a:p>
          <a:p>
            <a:pPr algn="just"/>
            <a:r>
              <a:rPr lang="en-US" sz="2000" b="1" dirty="0" smtClean="0">
                <a:latin typeface="Times New Roman" panose="02020603050405020304" pitchFamily="18" charset="0"/>
                <a:cs typeface="Times New Roman" panose="02020603050405020304" pitchFamily="18" charset="0"/>
              </a:rPr>
              <a:t>Female customers</a:t>
            </a:r>
            <a:r>
              <a:rPr lang="en-US" sz="2000" dirty="0" smtClean="0">
                <a:latin typeface="Times New Roman" panose="02020603050405020304" pitchFamily="18" charset="0"/>
                <a:cs typeface="Times New Roman" panose="02020603050405020304" pitchFamily="18" charset="0"/>
              </a:rPr>
              <a:t> and the </a:t>
            </a:r>
            <a:r>
              <a:rPr lang="en-US" sz="2000" b="1" dirty="0" smtClean="0">
                <a:latin typeface="Times New Roman" panose="02020603050405020304" pitchFamily="18" charset="0"/>
                <a:cs typeface="Times New Roman" panose="02020603050405020304" pitchFamily="18" charset="0"/>
              </a:rPr>
              <a:t>26–45 age group</a:t>
            </a:r>
            <a:r>
              <a:rPr lang="en-US" sz="2000" dirty="0" smtClean="0">
                <a:latin typeface="Times New Roman" panose="02020603050405020304" pitchFamily="18" charset="0"/>
                <a:cs typeface="Times New Roman" panose="02020603050405020304" pitchFamily="18" charset="0"/>
              </a:rPr>
              <a:t> emerge as the most valuable customer segments, accounting for a substantial share of total sales.</a:t>
            </a:r>
          </a:p>
          <a:p>
            <a:pPr algn="just"/>
            <a:r>
              <a:rPr lang="en-US" sz="2000" dirty="0" smtClean="0">
                <a:latin typeface="Times New Roman" panose="02020603050405020304" pitchFamily="18" charset="0"/>
                <a:cs typeface="Times New Roman" panose="02020603050405020304" pitchFamily="18" charset="0"/>
              </a:rPr>
              <a:t>Sales trends reveal </a:t>
            </a:r>
            <a:r>
              <a:rPr lang="en-US" sz="2000" b="1" dirty="0" smtClean="0">
                <a:latin typeface="Times New Roman" panose="02020603050405020304" pitchFamily="18" charset="0"/>
                <a:cs typeface="Times New Roman" panose="02020603050405020304" pitchFamily="18" charset="0"/>
              </a:rPr>
              <a:t>periodic fluctuations</a:t>
            </a:r>
            <a:r>
              <a:rPr lang="en-US" sz="2000" dirty="0" smtClean="0">
                <a:latin typeface="Times New Roman" panose="02020603050405020304" pitchFamily="18" charset="0"/>
                <a:cs typeface="Times New Roman" panose="02020603050405020304" pitchFamily="18" charset="0"/>
              </a:rPr>
              <a:t>, suggesting the influence of seasonality and customer purchasing cycles.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04696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1"/>
          <p:cNvSpPr/>
          <p:nvPr/>
        </p:nvSpPr>
        <p:spPr>
          <a:xfrm>
            <a:off x="600973" y="569343"/>
            <a:ext cx="10990053" cy="3600986"/>
          </a:xfrm>
          <a:prstGeom prst="rect">
            <a:avLst/>
          </a:prstGeom>
        </p:spPr>
        <p:txBody>
          <a:bodyPr wrap="square">
            <a:spAutoFit/>
          </a:bodyPr>
          <a:lstStyle/>
          <a:p>
            <a:pPr algn="just"/>
            <a:r>
              <a:rPr lang="en-US" sz="2800" b="1" dirty="0" smtClean="0">
                <a:latin typeface="Times New Roman" panose="02020603050405020304" pitchFamily="18" charset="0"/>
                <a:cs typeface="Times New Roman" panose="02020603050405020304" pitchFamily="18" charset="0"/>
              </a:rPr>
              <a:t>Inference</a:t>
            </a:r>
          </a:p>
          <a:p>
            <a:pPr algn="just"/>
            <a:endParaRPr lang="en-US" sz="2000" b="1"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Revenue growth can be optimized by </a:t>
            </a:r>
            <a:r>
              <a:rPr lang="en-US" sz="2000" b="1" dirty="0" smtClean="0">
                <a:latin typeface="Times New Roman" panose="02020603050405020304" pitchFamily="18" charset="0"/>
                <a:cs typeface="Times New Roman" panose="02020603050405020304" pitchFamily="18" charset="0"/>
              </a:rPr>
              <a:t>maintaining premium product availability</a:t>
            </a:r>
            <a:r>
              <a:rPr lang="en-US" sz="2000" dirty="0" smtClean="0">
                <a:latin typeface="Times New Roman" panose="02020603050405020304" pitchFamily="18" charset="0"/>
                <a:cs typeface="Times New Roman" panose="02020603050405020304" pitchFamily="18" charset="0"/>
              </a:rPr>
              <a:t> in high-performing categories like Electronics while leveraging volume-driven categories such as Clothing for consistent cash flow.</a:t>
            </a: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Targeted marketing efforts focused on </a:t>
            </a:r>
            <a:r>
              <a:rPr lang="en-US" sz="2000" b="1" dirty="0" smtClean="0">
                <a:latin typeface="Times New Roman" panose="02020603050405020304" pitchFamily="18" charset="0"/>
                <a:cs typeface="Times New Roman" panose="02020603050405020304" pitchFamily="18" charset="0"/>
              </a:rPr>
              <a:t>high-value customer segments</a:t>
            </a:r>
            <a:r>
              <a:rPr lang="en-US" sz="2000" dirty="0" smtClean="0">
                <a:latin typeface="Times New Roman" panose="02020603050405020304" pitchFamily="18" charset="0"/>
                <a:cs typeface="Times New Roman" panose="02020603050405020304" pitchFamily="18" charset="0"/>
              </a:rPr>
              <a:t> (female customers and the 26–45 age group) can improve customer engagement and sales conversion.</a:t>
            </a: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Seasonal trend patterns highlight the need for </a:t>
            </a:r>
            <a:r>
              <a:rPr lang="en-US" sz="2000" b="1" dirty="0" smtClean="0">
                <a:latin typeface="Times New Roman" panose="02020603050405020304" pitchFamily="18" charset="0"/>
                <a:cs typeface="Times New Roman" panose="02020603050405020304" pitchFamily="18" charset="0"/>
              </a:rPr>
              <a:t>data-driven inventory planning and promotional timing</a:t>
            </a:r>
            <a:r>
              <a:rPr lang="en-US" sz="2000" dirty="0" smtClean="0">
                <a:latin typeface="Times New Roman" panose="02020603050405020304" pitchFamily="18" charset="0"/>
                <a:cs typeface="Times New Roman" panose="02020603050405020304" pitchFamily="18" charset="0"/>
              </a:rPr>
              <a:t> to minimize revenue dips and maximize peak-period performance.</a:t>
            </a: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The integrated dashboard enables stakeholders to </a:t>
            </a:r>
            <a:r>
              <a:rPr lang="en-US" sz="2000" b="1" dirty="0" smtClean="0">
                <a:latin typeface="Times New Roman" panose="02020603050405020304" pitchFamily="18" charset="0"/>
                <a:cs typeface="Times New Roman" panose="02020603050405020304" pitchFamily="18" charset="0"/>
              </a:rPr>
              <a:t>quickly monitor KPIs, identify trends, and make informed business decisions</a:t>
            </a:r>
            <a:r>
              <a:rPr lang="en-US" sz="2000" dirty="0" smtClean="0">
                <a:latin typeface="Times New Roman" panose="02020603050405020304" pitchFamily="18" charset="0"/>
                <a:cs typeface="Times New Roman" panose="02020603050405020304" pitchFamily="18" charset="0"/>
              </a:rPr>
              <a:t>, demonstrating the value of data visualization in retail analytics.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09654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8200" y="252982"/>
            <a:ext cx="10515600" cy="1101363"/>
          </a:xfrm>
        </p:spPr>
        <p:txBody>
          <a:bodyPr>
            <a:normAutofit/>
          </a:bodyPr>
          <a:lstStyle/>
          <a:p>
            <a:r>
              <a:rPr lang="en-IN" sz="4000" dirty="0" smtClean="0">
                <a:latin typeface="Times New Roman" panose="02020603050405020304" pitchFamily="18" charset="0"/>
                <a:cs typeface="Times New Roman" panose="02020603050405020304" pitchFamily="18" charset="0"/>
              </a:rPr>
              <a:t>Conclusion &amp; Business </a:t>
            </a:r>
            <a:r>
              <a:rPr lang="en-IN" sz="4000" dirty="0">
                <a:latin typeface="Times New Roman" panose="02020603050405020304" pitchFamily="18" charset="0"/>
                <a:cs typeface="Times New Roman" panose="02020603050405020304" pitchFamily="18" charset="0"/>
              </a:rPr>
              <a:t>V</a:t>
            </a:r>
            <a:r>
              <a:rPr lang="en-IN" sz="4000" dirty="0" smtClean="0">
                <a:latin typeface="Times New Roman" panose="02020603050405020304" pitchFamily="18" charset="0"/>
                <a:cs typeface="Times New Roman" panose="02020603050405020304" pitchFamily="18" charset="0"/>
              </a:rPr>
              <a:t>alue</a:t>
            </a:r>
            <a:endParaRPr lang="en-IN"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54345"/>
            <a:ext cx="10515600" cy="5236236"/>
          </a:xfrm>
        </p:spPr>
        <p:txBody>
          <a:bodyPr>
            <a:noAutofit/>
          </a:bodyPr>
          <a:lstStyle/>
          <a:p>
            <a:pPr marL="0" indent="0">
              <a:buNone/>
            </a:pPr>
            <a:r>
              <a:rPr lang="en-US" b="1" dirty="0" smtClean="0">
                <a:latin typeface="Times New Roman" panose="02020603050405020304" pitchFamily="18" charset="0"/>
                <a:cs typeface="Times New Roman" panose="02020603050405020304" pitchFamily="18" charset="0"/>
              </a:rPr>
              <a:t>Business Value</a:t>
            </a:r>
          </a:p>
          <a:p>
            <a:r>
              <a:rPr lang="en-US" sz="2000" b="1" dirty="0" smtClean="0">
                <a:latin typeface="Times New Roman" panose="02020603050405020304" pitchFamily="18" charset="0"/>
                <a:cs typeface="Times New Roman" panose="02020603050405020304" pitchFamily="18" charset="0"/>
              </a:rPr>
              <a:t>Improved Decision-Making:</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The dashboard enables stakeholders to quickly assess business performance through key KPIs, reducing dependency on manual reporting.</a:t>
            </a:r>
          </a:p>
          <a:p>
            <a:r>
              <a:rPr lang="en-US" sz="2000" b="1" dirty="0" smtClean="0">
                <a:latin typeface="Times New Roman" panose="02020603050405020304" pitchFamily="18" charset="0"/>
                <a:cs typeface="Times New Roman" panose="02020603050405020304" pitchFamily="18" charset="0"/>
              </a:rPr>
              <a:t>Customer Segmentation Insights:</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Identifying high-value customer segments supports targeted marketing strategies and improved customer engagement.</a:t>
            </a:r>
          </a:p>
          <a:p>
            <a:r>
              <a:rPr lang="en-US" sz="2000" b="1" dirty="0" smtClean="0">
                <a:latin typeface="Times New Roman" panose="02020603050405020304" pitchFamily="18" charset="0"/>
                <a:cs typeface="Times New Roman" panose="02020603050405020304" pitchFamily="18" charset="0"/>
              </a:rPr>
              <a:t>Product Performance Optimization:</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Insights into category-level performance help optimize inventory planning, pricing strategies, and promotional campaigns.</a:t>
            </a:r>
          </a:p>
          <a:p>
            <a:r>
              <a:rPr lang="en-US" sz="2000" b="1" dirty="0" smtClean="0">
                <a:latin typeface="Times New Roman" panose="02020603050405020304" pitchFamily="18" charset="0"/>
                <a:cs typeface="Times New Roman" panose="02020603050405020304" pitchFamily="18" charset="0"/>
              </a:rPr>
              <a:t>Operational Efficiency:</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Automated and interactive visual reporting saves time and ensures consistent access to up-to-date business insights.</a:t>
            </a:r>
          </a:p>
          <a:p>
            <a:r>
              <a:rPr lang="en-US" sz="2000" b="1" dirty="0" smtClean="0">
                <a:latin typeface="Times New Roman" panose="02020603050405020304" pitchFamily="18" charset="0"/>
                <a:cs typeface="Times New Roman" panose="02020603050405020304" pitchFamily="18" charset="0"/>
              </a:rPr>
              <a:t>Scalability:</a:t>
            </a: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The analytical framework can be extended to incorporate real-time data, predictive analytics, and advanced customer segmentation in future implementations.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79767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514</Words>
  <Application>Microsoft Office PowerPoint</Application>
  <PresentationFormat>Widescreen</PresentationFormat>
  <Paragraphs>42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Integrated Retail Sales Performance Tracking and Analysis  TCS RIO – Industry Project</vt:lpstr>
      <vt:lpstr>Project Objective</vt:lpstr>
      <vt:lpstr>Dataset Overview</vt:lpstr>
      <vt:lpstr>KPI Summary</vt:lpstr>
      <vt:lpstr>Sales Trend Analysis</vt:lpstr>
      <vt:lpstr>Product Category Analysis</vt:lpstr>
      <vt:lpstr>Customer Demographics Analysis</vt:lpstr>
      <vt:lpstr>Key insights &amp; inference</vt:lpstr>
      <vt:lpstr>PowerPoint Presentation</vt:lpstr>
      <vt:lpstr>Conclusion &amp; Business Value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Integrated Retail Sales Performance Tracking and Analysis TCS RIO – Industry Project</dc:title>
  <dc:creator>Kaushik Upadhyay</dc:creator>
  <cp:lastModifiedBy>Kaushik Upadhyay</cp:lastModifiedBy>
  <cp:revision>14</cp:revision>
  <dcterms:created xsi:type="dcterms:W3CDTF">2025-12-29T14:04:03Z</dcterms:created>
  <dcterms:modified xsi:type="dcterms:W3CDTF">2025-12-29T17:52:08Z</dcterms:modified>
</cp:coreProperties>
</file>